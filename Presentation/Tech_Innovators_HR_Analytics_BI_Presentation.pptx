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860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34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1371600"/>
            <a:ext cx="4206240" cy="502920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algn="l"/>
            <a:r>
              <a:rPr sz="2900" b="1" dirty="0">
                <a:solidFill>
                  <a:srgbClr val="FFFFFF"/>
                </a:solidFill>
                <a:latin typeface="Aptos"/>
              </a:rPr>
              <a:t>Tech Innovators HR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993392"/>
            <a:ext cx="4206240" cy="5943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0" dirty="0">
                <a:solidFill>
                  <a:srgbClr val="DAE2E8"/>
                </a:solidFill>
                <a:latin typeface="Aptos"/>
              </a:rPr>
              <a:t>Business Insights &amp; Recommendations Report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2788920"/>
            <a:ext cx="2697480" cy="274320"/>
          </a:xfrm>
          <a:prstGeom prst="roundRect">
            <a:avLst/>
          </a:prstGeom>
          <a:solidFill>
            <a:srgbClr val="2A9D8F"/>
          </a:solidFill>
          <a:ln w="9525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2834640"/>
            <a:ext cx="2423160" cy="16459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ctr"/>
            <a:r>
              <a:rPr sz="1050" b="1">
                <a:solidFill>
                  <a:srgbClr val="FFFFFF"/>
                </a:solidFill>
                <a:latin typeface="Aptos"/>
              </a:rPr>
              <a:t>Power BI  •  DAX  •  HR Analytics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6272784"/>
            <a:ext cx="274320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200" b="0">
                <a:solidFill>
                  <a:srgbClr val="DAE2E8"/>
                </a:solidFill>
                <a:latin typeface="Aptos"/>
              </a:rPr>
              <a:t>Prepared by: Aminat Ajose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75720" y="6455664"/>
            <a:ext cx="3200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B6770"/>
                </a:solidFill>
                <a:latin typeface="Aptos"/>
              </a:rPr>
              <a:t>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47D100D-F820-427D-AA76-EBB4B5AF12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4936" y="1137028"/>
            <a:ext cx="6269837" cy="35598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4D"/>
          </a:solidFill>
          <a:ln w="9525">
            <a:solidFill>
              <a:srgbClr val="12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64592"/>
            <a:ext cx="1115568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Business Problem, Objective and Analytics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64808"/>
            <a:ext cx="3200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B6770"/>
                </a:solidFill>
                <a:latin typeface="Aptos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78992"/>
            <a:ext cx="5257800" cy="5166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078992"/>
            <a:ext cx="64008" cy="5166360"/>
          </a:xfrm>
          <a:prstGeom prst="rect">
            <a:avLst/>
          </a:prstGeom>
          <a:solidFill>
            <a:srgbClr val="2A9D8F"/>
          </a:solidFill>
          <a:ln w="9525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261872"/>
            <a:ext cx="49377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2344D"/>
                </a:solidFill>
                <a:latin typeface="Aptos"/>
              </a:rPr>
              <a:t>Business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73352"/>
            <a:ext cx="484632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Tech Innovators needs clearer visibility of employee performance, engagement and development needs.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HR decisions are limited by periodic performance reviews rather than real-time workforce insight.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Benefit programmes require better evidence on utilisation, satisfaction and value delivered.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078992"/>
            <a:ext cx="5257800" cy="5166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078992"/>
            <a:ext cx="64008" cy="5166360"/>
          </a:xfrm>
          <a:prstGeom prst="rect">
            <a:avLst/>
          </a:prstGeom>
          <a:solidFill>
            <a:srgbClr val="F4A261"/>
          </a:solidFill>
          <a:ln w="952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0528" y="1261872"/>
            <a:ext cx="49377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2344D"/>
                </a:solidFill>
                <a:latin typeface="Aptos"/>
              </a:rPr>
              <a:t>Project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673352"/>
            <a:ext cx="484632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Convert structured HR, performance and benefits data into decision-ready Power BI dashboards.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Measure workforce health using KPIs for training, performance, engagement, benefits and development risk.</a:t>
            </a:r>
          </a:p>
          <a:p>
            <a:pPr>
              <a:spcAft>
                <a:spcPts val="700"/>
              </a:spcAft>
              <a:defRPr sz="1500">
                <a:solidFill>
                  <a:srgbClr val="1F2937"/>
                </a:solidFill>
                <a:latin typeface="Aptos"/>
              </a:defRPr>
            </a:pPr>
            <a:r>
              <a:t>• Translate dashboard findings into practical HR actions that improve employee support and resource allocation.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4D"/>
          </a:solidFill>
          <a:ln w="9525">
            <a:solidFill>
              <a:srgbClr val="12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64592"/>
            <a:ext cx="1115568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Overall Workforce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64808"/>
            <a:ext cx="3200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B6770"/>
                </a:solidFill>
                <a:latin typeface="Aptos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960120"/>
            <a:ext cx="1691640" cy="7040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94360" y="960120"/>
            <a:ext cx="54864" cy="704088"/>
          </a:xfrm>
          <a:prstGeom prst="rect">
            <a:avLst/>
          </a:prstGeom>
          <a:solidFill>
            <a:srgbClr val="2A9D8F"/>
          </a:solidFill>
          <a:ln w="9525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49808" y="1051560"/>
            <a:ext cx="1463040" cy="347472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1800" b="1">
                <a:solidFill>
                  <a:srgbClr val="2A9D8F"/>
                </a:solidFill>
                <a:latin typeface="Aptos"/>
              </a:rPr>
              <a:t>244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379220"/>
            <a:ext cx="1463040" cy="22860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l"/>
            <a:r>
              <a:rPr sz="1050" b="1" dirty="0">
                <a:solidFill>
                  <a:srgbClr val="5B6770"/>
                </a:solidFill>
                <a:latin typeface="Aptos"/>
              </a:rPr>
              <a:t>Total Employees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79" y="960120"/>
            <a:ext cx="1691640" cy="7040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468879" y="960120"/>
            <a:ext cx="54864" cy="704088"/>
          </a:xfrm>
          <a:prstGeom prst="rect">
            <a:avLst/>
          </a:prstGeom>
          <a:solidFill>
            <a:srgbClr val="2E8B57"/>
          </a:solidFill>
          <a:ln w="9525">
            <a:solidFill>
              <a:srgbClr val="2E8B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624327" y="1051560"/>
            <a:ext cx="1463040" cy="347472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1800" b="1">
                <a:solidFill>
                  <a:srgbClr val="2E8B57"/>
                </a:solidFill>
                <a:latin typeface="Aptos"/>
              </a:rPr>
              <a:t>90.6%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24327" y="1367028"/>
            <a:ext cx="1463040" cy="22860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l"/>
            <a:r>
              <a:rPr sz="1050" b="1" dirty="0">
                <a:solidFill>
                  <a:srgbClr val="5B6770"/>
                </a:solidFill>
                <a:latin typeface="Aptos"/>
              </a:rPr>
              <a:t>Attendance Rate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960120"/>
            <a:ext cx="1691640" cy="7040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43400" y="960120"/>
            <a:ext cx="54864" cy="704088"/>
          </a:xfrm>
          <a:prstGeom prst="rect">
            <a:avLst/>
          </a:prstGeom>
          <a:solidFill>
            <a:srgbClr val="D1495B"/>
          </a:solidFill>
          <a:ln w="9525">
            <a:solidFill>
              <a:srgbClr val="D1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57700" y="1064961"/>
            <a:ext cx="1463040" cy="347472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1800" b="1">
                <a:solidFill>
                  <a:srgbClr val="D1495B"/>
                </a:solidFill>
                <a:latin typeface="Aptos"/>
              </a:rPr>
              <a:t>48.8%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5132" y="1357884"/>
            <a:ext cx="1463040" cy="22860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l"/>
            <a:r>
              <a:rPr sz="1050" b="1" dirty="0">
                <a:solidFill>
                  <a:srgbClr val="5B6770"/>
                </a:solidFill>
                <a:latin typeface="Aptos"/>
              </a:rPr>
              <a:t>Training Completion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960120"/>
            <a:ext cx="1691640" cy="7040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217920" y="960120"/>
            <a:ext cx="54864" cy="704088"/>
          </a:xfrm>
          <a:prstGeom prst="rect">
            <a:avLst/>
          </a:prstGeom>
          <a:solidFill>
            <a:srgbClr val="2A9D8F"/>
          </a:solidFill>
          <a:ln w="9525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15561" y="1033273"/>
            <a:ext cx="1463040" cy="347472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1800" b="1">
                <a:solidFill>
                  <a:srgbClr val="2A9D8F"/>
                </a:solidFill>
                <a:latin typeface="Aptos"/>
              </a:rPr>
              <a:t>3.2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0569" y="1335025"/>
            <a:ext cx="1463040" cy="22860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l"/>
            <a:r>
              <a:rPr sz="1050" b="1" dirty="0">
                <a:solidFill>
                  <a:srgbClr val="5B6770"/>
                </a:solidFill>
                <a:latin typeface="Aptos"/>
              </a:rPr>
              <a:t>Avg Performance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92440" y="982980"/>
            <a:ext cx="1691640" cy="7040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092440" y="960120"/>
            <a:ext cx="54864" cy="704088"/>
          </a:xfrm>
          <a:prstGeom prst="rect">
            <a:avLst/>
          </a:prstGeom>
          <a:solidFill>
            <a:srgbClr val="12344D"/>
          </a:solidFill>
          <a:ln w="9525">
            <a:solidFill>
              <a:srgbClr val="12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47888" y="1060704"/>
            <a:ext cx="1463040" cy="347472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1800" b="1" dirty="0">
                <a:solidFill>
                  <a:srgbClr val="12344D"/>
                </a:solidFill>
                <a:latin typeface="Aptos"/>
              </a:rPr>
              <a:t>3.0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93024" y="1357884"/>
            <a:ext cx="1463040" cy="228600"/>
          </a:xfrm>
          <a:prstGeom prst="rect">
            <a:avLst/>
          </a:prstGeom>
          <a:noFill/>
        </p:spPr>
        <p:txBody>
          <a:bodyPr wrap="square">
            <a:normAutofit fontScale="92500" lnSpcReduction="10000"/>
          </a:bodyPr>
          <a:lstStyle/>
          <a:p>
            <a:pPr algn="l"/>
            <a:r>
              <a:rPr sz="1050" b="1" dirty="0">
                <a:solidFill>
                  <a:srgbClr val="5B6770"/>
                </a:solidFill>
                <a:latin typeface="Aptos"/>
              </a:rPr>
              <a:t>Avg Engagement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966960" y="946404"/>
            <a:ext cx="1691640" cy="7040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966960" y="960120"/>
            <a:ext cx="54864" cy="704088"/>
          </a:xfrm>
          <a:prstGeom prst="rect">
            <a:avLst/>
          </a:prstGeom>
          <a:solidFill>
            <a:srgbClr val="D1495B"/>
          </a:solidFill>
          <a:ln w="9525">
            <a:solidFill>
              <a:srgbClr val="D149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108692" y="1046988"/>
            <a:ext cx="1463040" cy="347472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algn="l"/>
            <a:r>
              <a:rPr sz="1800" b="1" dirty="0">
                <a:solidFill>
                  <a:srgbClr val="D1495B"/>
                </a:solidFill>
                <a:latin typeface="Aptos"/>
              </a:rPr>
              <a:t>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81260" y="1367028"/>
            <a:ext cx="1577340" cy="196597"/>
          </a:xfrm>
          <a:prstGeom prst="rect">
            <a:avLst/>
          </a:prstGeom>
          <a:noFill/>
        </p:spPr>
        <p:txBody>
          <a:bodyPr wrap="square">
            <a:normAutofit fontScale="77500" lnSpcReduction="20000"/>
          </a:bodyPr>
          <a:lstStyle/>
          <a:p>
            <a:pPr algn="l"/>
            <a:r>
              <a:rPr sz="1050" b="1" dirty="0">
                <a:solidFill>
                  <a:srgbClr val="5B6770"/>
                </a:solidFill>
                <a:latin typeface="Aptos"/>
              </a:rPr>
              <a:t>Development Risk Employees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4" y="1993392"/>
            <a:ext cx="2743200" cy="2743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2344D"/>
                </a:solidFill>
                <a:latin typeface="Aptos"/>
              </a:rPr>
              <a:t>Dashboard view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2286000"/>
            <a:ext cx="5669280" cy="3547872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1" name="Picture 30" descr="executive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32910"/>
            <a:ext cx="5486400" cy="3054050"/>
          </a:xfrm>
          <a:prstGeom prst="rect">
            <a:avLst/>
          </a:prstGeom>
        </p:spPr>
      </p:pic>
      <p:sp>
        <p:nvSpPr>
          <p:cNvPr id="32" name="Rounded Rectangle 31"/>
          <p:cNvSpPr/>
          <p:nvPr/>
        </p:nvSpPr>
        <p:spPr>
          <a:xfrm>
            <a:off x="6629400" y="2011680"/>
            <a:ext cx="4983480" cy="3822191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629400" y="2011680"/>
            <a:ext cx="64008" cy="3822191"/>
          </a:xfrm>
          <a:prstGeom prst="rect">
            <a:avLst/>
          </a:prstGeom>
          <a:solidFill>
            <a:srgbClr val="F4A261"/>
          </a:solidFill>
          <a:ln w="952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830568" y="2194560"/>
            <a:ext cx="46634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2344D"/>
                </a:solidFill>
                <a:latin typeface="Aptos"/>
              </a:rPr>
              <a:t>What the KPIs show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8000" y="2606040"/>
            <a:ext cx="4572000" cy="3044951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450">
                <a:solidFill>
                  <a:srgbClr val="1F2937"/>
                </a:solidFill>
                <a:latin typeface="Aptos"/>
              </a:defRPr>
            </a:pPr>
            <a:r>
              <a:t>• Attendance is strong at 90.6%, so workforce availability is not the primary operational concern.</a:t>
            </a:r>
          </a:p>
          <a:p>
            <a:pPr>
              <a:spcAft>
                <a:spcPts val="700"/>
              </a:spcAft>
              <a:defRPr sz="1450">
                <a:solidFill>
                  <a:srgbClr val="1F2937"/>
                </a:solidFill>
                <a:latin typeface="Aptos"/>
              </a:defRPr>
            </a:pPr>
            <a:r>
              <a:t>• Training completion is only 48.8%, leaving a 51.2% training gap that requires HR follow-up.</a:t>
            </a:r>
          </a:p>
          <a:p>
            <a:pPr>
              <a:spcAft>
                <a:spcPts val="700"/>
              </a:spcAft>
              <a:defRPr sz="1450">
                <a:solidFill>
                  <a:srgbClr val="1F2937"/>
                </a:solidFill>
                <a:latin typeface="Aptos"/>
              </a:defRPr>
            </a:pPr>
            <a:r>
              <a:t>• Performance and engagement are moderate at 3.2 and 3.0 respectively, suggesting room for improvement.</a:t>
            </a:r>
          </a:p>
          <a:p>
            <a:pPr>
              <a:spcAft>
                <a:spcPts val="700"/>
              </a:spcAft>
              <a:defRPr sz="1450">
                <a:solidFill>
                  <a:srgbClr val="1F2937"/>
                </a:solidFill>
                <a:latin typeface="Aptos"/>
              </a:defRPr>
            </a:pPr>
            <a:r>
              <a:t>• Action: prioritise training completion, development-risk employees and department-level support.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4D"/>
          </a:solidFill>
          <a:ln w="9525">
            <a:solidFill>
              <a:srgbClr val="12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64592"/>
            <a:ext cx="1115568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Workforce Demographics and Segmentation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64808"/>
            <a:ext cx="3200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B6770"/>
                </a:solidFill>
                <a:latin typeface="Aptos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9120" y="1241272"/>
            <a:ext cx="2743200" cy="27432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500" b="1" dirty="0">
                <a:solidFill>
                  <a:srgbClr val="12344D"/>
                </a:solidFill>
                <a:latin typeface="Aptos"/>
              </a:rPr>
              <a:t>Demographics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9120" y="1581912"/>
            <a:ext cx="5806440" cy="4480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629400" y="987552"/>
            <a:ext cx="4983480" cy="2697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629400" y="987552"/>
            <a:ext cx="64008" cy="2697480"/>
          </a:xfrm>
          <a:prstGeom prst="rect">
            <a:avLst/>
          </a:prstGeom>
          <a:solidFill>
            <a:srgbClr val="2A9D8F"/>
          </a:solidFill>
          <a:ln w="9525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30568" y="1170432"/>
            <a:ext cx="46634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2344D"/>
                </a:solidFill>
                <a:latin typeface="Aptos"/>
              </a:rPr>
              <a:t>Segmentation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581912"/>
            <a:ext cx="4572000" cy="1920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320">
                <a:solidFill>
                  <a:srgbClr val="1F2937"/>
                </a:solidFill>
                <a:latin typeface="Aptos"/>
              </a:defRPr>
            </a:pPr>
            <a:r>
              <a:t>• The workforce is balanced across New York, Remote, Austin and San Francisco, with New York as the largest base.</a:t>
            </a:r>
          </a:p>
          <a:p>
            <a:pPr>
              <a:spcAft>
                <a:spcPts val="700"/>
              </a:spcAft>
              <a:defRPr sz="1320">
                <a:solidFill>
                  <a:srgbClr val="1F2937"/>
                </a:solidFill>
                <a:latin typeface="Aptos"/>
              </a:defRPr>
            </a:pPr>
            <a:r>
              <a:t>• Remote employees form a major workforce group, so training and engagement strategies must support hybrid working.</a:t>
            </a:r>
          </a:p>
          <a:p>
            <a:pPr>
              <a:spcAft>
                <a:spcPts val="700"/>
              </a:spcAft>
              <a:defRPr sz="1320">
                <a:solidFill>
                  <a:srgbClr val="1F2937"/>
                </a:solidFill>
                <a:latin typeface="Aptos"/>
              </a:defRPr>
            </a:pPr>
            <a:r>
              <a:t>• Employees aged 30–39 are the largest age group but show the lowest average performance rating.</a:t>
            </a:r>
          </a:p>
          <a:p>
            <a:pPr>
              <a:spcAft>
                <a:spcPts val="700"/>
              </a:spcAft>
              <a:defRPr sz="1320">
                <a:solidFill>
                  <a:srgbClr val="1F2937"/>
                </a:solidFill>
                <a:latin typeface="Aptos"/>
              </a:defRPr>
            </a:pPr>
            <a:r>
              <a:t>• The largest tenure group is 3–5 years, indicating a strong core workforce with opportunities for renewed development.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3950207"/>
            <a:ext cx="4983480" cy="2697479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629400" y="3950208"/>
            <a:ext cx="82296" cy="2743200"/>
          </a:xfrm>
          <a:prstGeom prst="rect">
            <a:avLst/>
          </a:prstGeom>
          <a:solidFill>
            <a:srgbClr val="F4A261"/>
          </a:solidFill>
          <a:ln w="952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30568" y="4133088"/>
            <a:ext cx="46634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2344D"/>
                </a:solidFill>
                <a:latin typeface="Aptos"/>
              </a:rPr>
              <a:t>Workforce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544568"/>
            <a:ext cx="457200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320">
                <a:solidFill>
                  <a:srgbClr val="1F2937"/>
                </a:solidFill>
                <a:latin typeface="Aptos"/>
              </a:defRPr>
            </a:pPr>
            <a:r>
              <a:t>• Use demographic segmentation to tailor training and engagement actions by employee group.</a:t>
            </a:r>
          </a:p>
          <a:p>
            <a:pPr>
              <a:spcAft>
                <a:spcPts val="700"/>
              </a:spcAft>
              <a:defRPr sz="1320">
                <a:solidFill>
                  <a:srgbClr val="1F2937"/>
                </a:solidFill>
                <a:latin typeface="Aptos"/>
              </a:defRPr>
            </a:pPr>
            <a:r>
              <a:t>• Review performance patterns for the 30–39 age group because it has the largest workforce share.</a:t>
            </a:r>
          </a:p>
          <a:p>
            <a:pPr>
              <a:spcAft>
                <a:spcPts val="700"/>
              </a:spcAft>
              <a:defRPr sz="1320">
                <a:solidFill>
                  <a:srgbClr val="1F2937"/>
                </a:solidFill>
                <a:latin typeface="Aptos"/>
              </a:defRPr>
            </a:pPr>
            <a:r>
              <a:t>• Ensure remote employees receive equal access to training, benefits communication and manager support.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8AFDC6E-D3EA-4118-B0D2-E636BC884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537" y="2020301"/>
            <a:ext cx="5710501" cy="31683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4D"/>
          </a:solidFill>
          <a:ln w="9525">
            <a:solidFill>
              <a:srgbClr val="12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64592"/>
            <a:ext cx="1115568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Performance and Training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64808"/>
            <a:ext cx="3200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B6770"/>
                </a:solidFill>
                <a:latin typeface="Aptos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180942"/>
            <a:ext cx="2743200" cy="274320"/>
          </a:xfrm>
          <a:prstGeom prst="rect">
            <a:avLst/>
          </a:prstGeom>
          <a:noFill/>
        </p:spPr>
        <p:txBody>
          <a:bodyPr wrap="square">
            <a:normAutofit fontScale="85000" lnSpcReduction="10000"/>
          </a:bodyPr>
          <a:lstStyle/>
          <a:p>
            <a:pPr algn="l"/>
            <a:r>
              <a:rPr sz="1500" b="1" dirty="0">
                <a:solidFill>
                  <a:srgbClr val="12344D"/>
                </a:solidFill>
                <a:latin typeface="Aptos"/>
              </a:rPr>
              <a:t>Performance and training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59" y="1490472"/>
            <a:ext cx="5806440" cy="4480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performance_training_analys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10812"/>
            <a:ext cx="5623559" cy="3127814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29400" y="987552"/>
            <a:ext cx="4983480" cy="2697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629400" y="987552"/>
            <a:ext cx="64008" cy="2697480"/>
          </a:xfrm>
          <a:prstGeom prst="rect">
            <a:avLst/>
          </a:prstGeom>
          <a:solidFill>
            <a:srgbClr val="2A9D8F"/>
          </a:solidFill>
          <a:ln w="9525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30568" y="1170432"/>
            <a:ext cx="46634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2344D"/>
                </a:solidFill>
                <a:latin typeface="Aptos"/>
              </a:rPr>
              <a:t>Key findings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581912"/>
            <a:ext cx="4572000" cy="1920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320">
                <a:solidFill>
                  <a:srgbClr val="1F2937"/>
                </a:solidFill>
                <a:latin typeface="Aptos"/>
              </a:defRPr>
            </a:pPr>
            <a:r>
              <a:t>• Marketing records the highest average performance, while HR and Finance sit at the lower end.</a:t>
            </a:r>
          </a:p>
          <a:p>
            <a:pPr>
              <a:spcAft>
                <a:spcPts val="700"/>
              </a:spcAft>
              <a:defRPr sz="1320">
                <a:solidFill>
                  <a:srgbClr val="1F2937"/>
                </a:solidFill>
                <a:latin typeface="Aptos"/>
              </a:defRPr>
            </a:pPr>
            <a:r>
              <a:t>• Legal and Sales show weaker engagement, which could become a future retention and productivity concern.</a:t>
            </a:r>
          </a:p>
          <a:p>
            <a:pPr>
              <a:spcAft>
                <a:spcPts val="700"/>
              </a:spcAft>
              <a:defRPr sz="1320">
                <a:solidFill>
                  <a:srgbClr val="1F2937"/>
                </a:solidFill>
                <a:latin typeface="Aptos"/>
              </a:defRPr>
            </a:pPr>
            <a:r>
              <a:t>• Sales, IT and Finance have the highest counts of development-risk employees.</a:t>
            </a:r>
          </a:p>
          <a:p>
            <a:pPr>
              <a:spcAft>
                <a:spcPts val="700"/>
              </a:spcAft>
              <a:defRPr sz="1320">
                <a:solidFill>
                  <a:srgbClr val="1F2937"/>
                </a:solidFill>
                <a:latin typeface="Aptos"/>
              </a:defRPr>
            </a:pPr>
            <a:r>
              <a:t>• Trained employees show slightly stronger performance and engagement than untrained employees.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3950208"/>
            <a:ext cx="4983480" cy="25146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629400" y="3950208"/>
            <a:ext cx="82296" cy="2514600"/>
          </a:xfrm>
          <a:prstGeom prst="rect">
            <a:avLst/>
          </a:prstGeom>
          <a:solidFill>
            <a:srgbClr val="F4A261"/>
          </a:solidFill>
          <a:ln w="952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30568" y="4133088"/>
            <a:ext cx="46634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2344D"/>
                </a:solidFill>
                <a:latin typeface="Aptos"/>
              </a:rPr>
              <a:t>Recommended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544568"/>
            <a:ext cx="457200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320">
                <a:solidFill>
                  <a:srgbClr val="1F2937"/>
                </a:solidFill>
                <a:latin typeface="Aptos"/>
              </a:defRPr>
            </a:pPr>
            <a:r>
              <a:t>• Track development-risk rate by department, not only the count, to support fair comparison.</a:t>
            </a:r>
          </a:p>
          <a:p>
            <a:pPr>
              <a:spcAft>
                <a:spcPts val="700"/>
              </a:spcAft>
              <a:defRPr sz="1320">
                <a:solidFill>
                  <a:srgbClr val="1F2937"/>
                </a:solidFill>
                <a:latin typeface="Aptos"/>
              </a:defRPr>
            </a:pPr>
            <a:r>
              <a:t>• Launch manager-led training follow-up for departments with weaker completion rates.</a:t>
            </a:r>
          </a:p>
          <a:p>
            <a:pPr>
              <a:spcAft>
                <a:spcPts val="700"/>
              </a:spcAft>
              <a:defRPr sz="1320">
                <a:solidFill>
                  <a:srgbClr val="1F2937"/>
                </a:solidFill>
                <a:latin typeface="Aptos"/>
              </a:defRPr>
            </a:pPr>
            <a:r>
              <a:t>• Use coaching and performance improvement plans for employees with low performance or low engagement.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4D"/>
          </a:solidFill>
          <a:ln w="9525">
            <a:solidFill>
              <a:srgbClr val="12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64592"/>
            <a:ext cx="1115568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Benefits Utilisation and Value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64808"/>
            <a:ext cx="3200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B6770"/>
                </a:solidFill>
                <a:latin typeface="Aptos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2743200" cy="27432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500" b="1" dirty="0">
                <a:solidFill>
                  <a:srgbClr val="12344D"/>
                </a:solidFill>
                <a:latin typeface="Aptos"/>
              </a:rPr>
              <a:t>Benefits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5806440" cy="4480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629400" y="987552"/>
            <a:ext cx="4983480" cy="2697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629400" y="987552"/>
            <a:ext cx="64008" cy="2697480"/>
          </a:xfrm>
          <a:prstGeom prst="rect">
            <a:avLst/>
          </a:prstGeom>
          <a:solidFill>
            <a:srgbClr val="2A9D8F"/>
          </a:solidFill>
          <a:ln w="9525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30568" y="1170432"/>
            <a:ext cx="46634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2344D"/>
                </a:solidFill>
                <a:latin typeface="Aptos"/>
              </a:rPr>
              <a:t>Benefit insight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581912"/>
            <a:ext cx="4572000" cy="1920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320">
                <a:solidFill>
                  <a:srgbClr val="1F2937"/>
                </a:solidFill>
                <a:latin typeface="Aptos"/>
              </a:defRPr>
            </a:pPr>
            <a:r>
              <a:t>• Benefit participation is 100%, but satisfaction varies significantly by benefit type.</a:t>
            </a:r>
          </a:p>
          <a:p>
            <a:pPr>
              <a:spcAft>
                <a:spcPts val="700"/>
              </a:spcAft>
              <a:defRPr sz="1320">
                <a:solidFill>
                  <a:srgbClr val="1F2937"/>
                </a:solidFill>
                <a:latin typeface="Aptos"/>
              </a:defRPr>
            </a:pPr>
            <a:r>
              <a:t>• Health Insurance combines high usage with high satisfaction, making it a strong value benefit.</a:t>
            </a:r>
          </a:p>
          <a:p>
            <a:pPr>
              <a:spcAft>
                <a:spcPts val="700"/>
              </a:spcAft>
              <a:defRPr sz="1320">
                <a:solidFill>
                  <a:srgbClr val="1F2937"/>
                </a:solidFill>
                <a:latin typeface="Aptos"/>
              </a:defRPr>
            </a:pPr>
            <a:r>
              <a:t>• Gym Membership is heavily used but only moderately satisfying, suggesting a quality or value improvement opportunity.</a:t>
            </a:r>
          </a:p>
          <a:p>
            <a:pPr>
              <a:spcAft>
                <a:spcPts val="700"/>
              </a:spcAft>
              <a:defRPr sz="1320">
                <a:solidFill>
                  <a:srgbClr val="1F2937"/>
                </a:solidFill>
                <a:latin typeface="Aptos"/>
              </a:defRPr>
            </a:pPr>
            <a:r>
              <a:t>• Wellness Program has very low satisfaction and should be reviewed or redesigned.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3950208"/>
            <a:ext cx="4983480" cy="2208854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629400" y="3950208"/>
            <a:ext cx="64008" cy="2208854"/>
          </a:xfrm>
          <a:prstGeom prst="rect">
            <a:avLst/>
          </a:prstGeom>
          <a:solidFill>
            <a:srgbClr val="F4A261"/>
          </a:solidFill>
          <a:ln w="952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30568" y="4133088"/>
            <a:ext cx="46634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2344D"/>
                </a:solidFill>
                <a:latin typeface="Aptos"/>
              </a:rPr>
              <a:t>Cost and value 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544568"/>
            <a:ext cx="457200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320">
                <a:solidFill>
                  <a:srgbClr val="1F2937"/>
                </a:solidFill>
                <a:latin typeface="Aptos"/>
              </a:defRPr>
            </a:pPr>
            <a:r>
              <a:t>• Protect high-value benefits such as Health Insurance.</a:t>
            </a:r>
          </a:p>
          <a:p>
            <a:pPr>
              <a:spcAft>
                <a:spcPts val="700"/>
              </a:spcAft>
              <a:defRPr sz="1320">
                <a:solidFill>
                  <a:srgbClr val="1F2937"/>
                </a:solidFill>
                <a:latin typeface="Aptos"/>
              </a:defRPr>
            </a:pPr>
            <a:r>
              <a:t>• Investigate Paid Time-Off recording because usage appears very low despite high satisfaction.</a:t>
            </a:r>
          </a:p>
          <a:p>
            <a:pPr>
              <a:spcAft>
                <a:spcPts val="700"/>
              </a:spcAft>
              <a:defRPr sz="1320">
                <a:solidFill>
                  <a:srgbClr val="1F2937"/>
                </a:solidFill>
                <a:latin typeface="Aptos"/>
              </a:defRPr>
            </a:pPr>
            <a:r>
              <a:t>• Use a usage-versus-satisfaction matrix to decide which benefits to maintain, improve, promote or retire.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5B4E5E0-BA98-4786-9E91-C497BFE2B6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532" y="1581912"/>
            <a:ext cx="5500096" cy="305409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4D"/>
          </a:solidFill>
          <a:ln w="9525">
            <a:solidFill>
              <a:srgbClr val="12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64592"/>
            <a:ext cx="1115568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HR Action Plan: From Insight to Intervention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64808"/>
            <a:ext cx="3200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B6770"/>
                </a:solidFill>
                <a:latin typeface="Aptos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914400"/>
            <a:ext cx="2743200" cy="274320"/>
          </a:xfrm>
          <a:prstGeom prst="rect">
            <a:avLst/>
          </a:prstGeom>
          <a:noFill/>
        </p:spPr>
        <p:txBody>
          <a:bodyPr wrap="square">
            <a:normAutofit fontScale="92500" lnSpcReduction="20000"/>
          </a:bodyPr>
          <a:lstStyle/>
          <a:p>
            <a:pPr algn="l"/>
            <a:r>
              <a:rPr sz="1500" b="1" dirty="0">
                <a:solidFill>
                  <a:srgbClr val="12344D"/>
                </a:solidFill>
                <a:latin typeface="Aptos"/>
              </a:rPr>
              <a:t>Action plan dashboard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5806440" cy="4480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hr_action_pl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919944"/>
            <a:ext cx="5623559" cy="3109551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629400" y="987552"/>
            <a:ext cx="4983480" cy="26974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629400" y="987552"/>
            <a:ext cx="64008" cy="2697480"/>
          </a:xfrm>
          <a:prstGeom prst="rect">
            <a:avLst/>
          </a:prstGeom>
          <a:solidFill>
            <a:srgbClr val="2A9D8F"/>
          </a:solidFill>
          <a:ln w="9525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30568" y="1170432"/>
            <a:ext cx="46634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2344D"/>
                </a:solidFill>
                <a:latin typeface="Aptos"/>
              </a:rPr>
              <a:t>Priority actions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581912"/>
            <a:ext cx="4572000" cy="19202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320">
                <a:solidFill>
                  <a:srgbClr val="1F2937"/>
                </a:solidFill>
                <a:latin typeface="Aptos"/>
              </a:defRPr>
            </a:pPr>
            <a:r>
              <a:t>• Improve training completion through department-level tracking and manager accountability.</a:t>
            </a:r>
          </a:p>
          <a:p>
            <a:pPr>
              <a:spcAft>
                <a:spcPts val="700"/>
              </a:spcAft>
              <a:defRPr sz="1320">
                <a:solidFill>
                  <a:srgbClr val="1F2937"/>
                </a:solidFill>
                <a:latin typeface="Aptos"/>
              </a:defRPr>
            </a:pPr>
            <a:r>
              <a:t>• Prioritise 84 development-risk employees for coaching, training follow-up and structured support.</a:t>
            </a:r>
          </a:p>
          <a:p>
            <a:pPr>
              <a:spcAft>
                <a:spcPts val="700"/>
              </a:spcAft>
              <a:defRPr sz="1320">
                <a:solidFill>
                  <a:srgbClr val="1F2937"/>
                </a:solidFill>
                <a:latin typeface="Aptos"/>
              </a:defRPr>
            </a:pPr>
            <a:r>
              <a:t>• Address engagement weaknesses through pulse surveys, manager check-ins and recognition initiatives.</a:t>
            </a:r>
          </a:p>
          <a:p>
            <a:pPr>
              <a:spcAft>
                <a:spcPts val="700"/>
              </a:spcAft>
              <a:defRPr sz="1320">
                <a:solidFill>
                  <a:srgbClr val="1F2937"/>
                </a:solidFill>
                <a:latin typeface="Aptos"/>
              </a:defRPr>
            </a:pPr>
            <a:r>
              <a:t>• Review low-value benefits and redesign benefit communication around employee needs.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29400" y="3950208"/>
            <a:ext cx="4983480" cy="19202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629400" y="3950208"/>
            <a:ext cx="64008" cy="1920240"/>
          </a:xfrm>
          <a:prstGeom prst="rect">
            <a:avLst/>
          </a:prstGeom>
          <a:solidFill>
            <a:srgbClr val="F4A261"/>
          </a:solidFill>
          <a:ln w="952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30568" y="4133088"/>
            <a:ext cx="466344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2344D"/>
                </a:solidFill>
                <a:latin typeface="Aptos"/>
              </a:rPr>
              <a:t>Expected business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4544568"/>
            <a:ext cx="4572000" cy="98755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320">
                <a:solidFill>
                  <a:srgbClr val="1F2937"/>
                </a:solidFill>
                <a:latin typeface="Aptos"/>
              </a:defRPr>
            </a:pPr>
            <a:r>
              <a:t>• Faster identification of employees requiring support.</a:t>
            </a:r>
          </a:p>
          <a:p>
            <a:pPr>
              <a:spcAft>
                <a:spcPts val="700"/>
              </a:spcAft>
              <a:defRPr sz="1320">
                <a:solidFill>
                  <a:srgbClr val="1F2937"/>
                </a:solidFill>
                <a:latin typeface="Aptos"/>
              </a:defRPr>
            </a:pPr>
            <a:r>
              <a:t>• More efficient investment in benefits that employees actually value.</a:t>
            </a:r>
          </a:p>
          <a:p>
            <a:pPr>
              <a:spcAft>
                <a:spcPts val="700"/>
              </a:spcAft>
              <a:defRPr sz="1320">
                <a:solidFill>
                  <a:srgbClr val="1F2937"/>
                </a:solidFill>
                <a:latin typeface="Aptos"/>
              </a:defRPr>
            </a:pPr>
            <a:r>
              <a:t>• Better alignment between HR activity, workforce productivity and employee experience.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4D"/>
          </a:solidFill>
          <a:ln w="9525">
            <a:solidFill>
              <a:srgbClr val="12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64592"/>
            <a:ext cx="1115568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Priority Actions for Workforce Performance and HR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64808"/>
            <a:ext cx="3200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B6770"/>
                </a:solidFill>
                <a:latin typeface="Aptos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32688"/>
            <a:ext cx="10972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2344D"/>
                </a:solidFill>
                <a:latin typeface="Aptos"/>
              </a:rPr>
              <a:t>1. Close the training gap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252728"/>
            <a:ext cx="1060704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t>• Move completion from 48.8% upward through department-level follow-up.</a:t>
            </a:r>
          </a:p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t>• Identify barriers to training completion and monitor progress monthly.</a:t>
            </a:r>
          </a:p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t>• Use training completion as a standard HR performance management KPI.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10972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2344D"/>
                </a:solidFill>
                <a:latin typeface="Aptos"/>
              </a:rPr>
              <a:t>2. Support development-risk employees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06040"/>
            <a:ext cx="1060704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t>• Create a targeted support list for the 84 employees in the development-risk group.</a:t>
            </a:r>
          </a:p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t>• Prioritise coaching where low performance or low engagement overlaps with incomplete training.</a:t>
            </a:r>
          </a:p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t>• Track improvement after intervention using performance, engagement and training metrics.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639312"/>
            <a:ext cx="10972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2344D"/>
                </a:solidFill>
                <a:latin typeface="Aptos"/>
              </a:rPr>
              <a:t>3. Improve engagement and performance consistency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959352"/>
            <a:ext cx="1060704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t>• Use pulse surveys and manager check-ins in departments with weaker engagement.</a:t>
            </a:r>
          </a:p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t>• Review Sales, Legal, HR and Finance more closely because they show notable people-risk signals.</a:t>
            </a:r>
          </a:p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t>• Introduce mentoring and performance improvement plans for low-performing employees.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992624"/>
            <a:ext cx="10972800" cy="2560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500" b="1">
                <a:solidFill>
                  <a:srgbClr val="12344D"/>
                </a:solidFill>
                <a:latin typeface="Aptos"/>
              </a:rPr>
              <a:t>4. Optimise benefit value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312664"/>
            <a:ext cx="10607040" cy="713232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t>• Maintain Health Insurance as a high-value benefit.</a:t>
            </a:r>
          </a:p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t>• Improve Gym Membership quality/value because usage is high but satisfaction is moderate.</a:t>
            </a:r>
          </a:p>
          <a:p>
            <a:pPr>
              <a:spcAft>
                <a:spcPts val="300"/>
              </a:spcAft>
              <a:defRPr sz="1250">
                <a:solidFill>
                  <a:srgbClr val="1F2937"/>
                </a:solidFill>
                <a:latin typeface="Aptos"/>
              </a:defRPr>
            </a:pPr>
            <a:r>
              <a:t>• Review the Wellness Program due to low satisfaction and validate Paid Time-Off data capture.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2344D"/>
          </a:solidFill>
          <a:ln w="9525">
            <a:solidFill>
              <a:srgbClr val="1234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84048" y="164592"/>
            <a:ext cx="11155680" cy="29260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ptos"/>
              </a:rPr>
              <a:t>Analytics Delivery: Data Model, Measures and Stakeholder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521440" y="6464808"/>
            <a:ext cx="320040" cy="2286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r"/>
            <a:r>
              <a:rPr sz="1000" b="0">
                <a:solidFill>
                  <a:srgbClr val="5B6770"/>
                </a:solidFill>
                <a:latin typeface="Aptos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078992"/>
            <a:ext cx="5257800" cy="5166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40080" y="1078992"/>
            <a:ext cx="64008" cy="5166360"/>
          </a:xfrm>
          <a:prstGeom prst="rect">
            <a:avLst/>
          </a:prstGeom>
          <a:solidFill>
            <a:srgbClr val="2A9D8F"/>
          </a:solidFill>
          <a:ln w="9525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7" y="1261872"/>
            <a:ext cx="49377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2344D"/>
                </a:solidFill>
                <a:latin typeface="Aptos"/>
              </a:rPr>
              <a:t>Analytics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673352"/>
            <a:ext cx="484632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Integrated employee demographics, performance and benefits data using Employee ID as the relationship key.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Built a Power BI model that supports workforce segmentation across department, gender and location.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Developed DAX KPIs for attendance, training completion, performance, engagement, benefit participation and development risk.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Converted operational HR metrics into management-level insight and action planning.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078992"/>
            <a:ext cx="5257800" cy="51663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CF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309360" y="1078992"/>
            <a:ext cx="64008" cy="5166360"/>
          </a:xfrm>
          <a:prstGeom prst="rect">
            <a:avLst/>
          </a:prstGeom>
          <a:solidFill>
            <a:srgbClr val="F4A261"/>
          </a:solidFill>
          <a:ln w="952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10528" y="1261872"/>
            <a:ext cx="4937760" cy="32004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algn="l"/>
            <a:r>
              <a:rPr sz="1800" b="1">
                <a:solidFill>
                  <a:srgbClr val="12344D"/>
                </a:solidFill>
                <a:latin typeface="Aptos"/>
              </a:rPr>
              <a:t>Business value delivered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1673352"/>
            <a:ext cx="4846320" cy="43891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Provides HR leaders with a single view of performance, training, benefits and workforce risk.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Moves HR reporting from periodic review to proactive intervention.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Highlights where investment should be protected, improved or reviewed.</a:t>
            </a:r>
          </a:p>
          <a:p>
            <a:pPr>
              <a:spcAft>
                <a:spcPts val="700"/>
              </a:spcAft>
              <a:defRPr sz="1400">
                <a:solidFill>
                  <a:srgbClr val="1F2937"/>
                </a:solidFill>
                <a:latin typeface="Aptos"/>
              </a:defRPr>
            </a:pPr>
            <a:r>
              <a:t>• Supports better employee experience, stronger performance management and more efficient resource allocation.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1030</Words>
  <Application>Microsoft Office PowerPoint</Application>
  <PresentationFormat>Widescreen</PresentationFormat>
  <Paragraphs>113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Aminat Ajose</cp:lastModifiedBy>
  <cp:revision>2</cp:revision>
  <dcterms:created xsi:type="dcterms:W3CDTF">2013-01-27T09:14:16Z</dcterms:created>
  <dcterms:modified xsi:type="dcterms:W3CDTF">2026-06-17T19:40:56Z</dcterms:modified>
  <cp:category/>
</cp:coreProperties>
</file>